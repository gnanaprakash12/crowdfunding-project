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5" r:id="rId1"/>
  </p:sldMasterIdLst>
  <p:notesMasterIdLst>
    <p:notesMasterId r:id="rId18"/>
  </p:notesMasterIdLst>
  <p:sldIdLst>
    <p:sldId id="268" r:id="rId2"/>
    <p:sldId id="274" r:id="rId3"/>
    <p:sldId id="257" r:id="rId4"/>
    <p:sldId id="269" r:id="rId5"/>
    <p:sldId id="260" r:id="rId6"/>
    <p:sldId id="265" r:id="rId7"/>
    <p:sldId id="272" r:id="rId8"/>
    <p:sldId id="266" r:id="rId9"/>
    <p:sldId id="267" r:id="rId10"/>
    <p:sldId id="259" r:id="rId11"/>
    <p:sldId id="273" r:id="rId12"/>
    <p:sldId id="270" r:id="rId13"/>
    <p:sldId id="264" r:id="rId14"/>
    <p:sldId id="271" r:id="rId15"/>
    <p:sldId id="261" r:id="rId16"/>
    <p:sldId id="26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B69D0B-7023-43A7-B06D-8DBF7F4EDBA2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54950C-C530-4796-B081-FC10C3C0F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39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D842-4FEC-4952-8E1B-95F1D4915A58}" type="datetime1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720D-C30F-49D3-B08B-D70BFBD09C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098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CE1D4-8C8B-4E02-AE55-9CD787A01E80}" type="datetime1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720D-C30F-49D3-B08B-D70BFBD09C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964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0A86D-2FED-4663-9FCC-2056E8F769B7}" type="datetime1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720D-C30F-49D3-B08B-D70BFBD09C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139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E0C29-F783-4BAD-9083-E9BFF52C9E1E}" type="datetime1">
              <a:rPr lang="en-IN" smtClean="0"/>
              <a:t>13-10-2025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720D-C30F-49D3-B08B-D70BFBD09C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202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9D8D4-D7B5-4079-91E1-64E6483DF535}" type="datetime1">
              <a:rPr lang="en-IN" smtClean="0"/>
              <a:t>13-10-2025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720D-C30F-49D3-B08B-D70BFBD09C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659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53E9-5AFD-423A-A3C8-265D5AFDECEE}" type="datetime1">
              <a:rPr lang="en-IN" smtClean="0"/>
              <a:t>13-10-2025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720D-C30F-49D3-B08B-D70BFBD09C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345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E85BE-C152-4A04-A9E2-0E951046A024}" type="datetime1">
              <a:rPr lang="en-IN" smtClean="0"/>
              <a:t>13-10-2025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720D-C30F-49D3-B08B-D70BFBD09C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619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D79BA-CEF4-4769-A03D-71C9563CAB76}" type="datetime1">
              <a:rPr lang="en-IN" smtClean="0"/>
              <a:t>13-10-2025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720D-C30F-49D3-B08B-D70BFBD09C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781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5DCCD-844F-4825-862E-8CCBDE29185B}" type="datetime1">
              <a:rPr lang="en-IN" smtClean="0"/>
              <a:t>13-10-2025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720D-C30F-49D3-B08B-D70BFBD09C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4570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2521F-33C5-47A1-96BB-7BCFC75E3FDB}" type="datetime1">
              <a:rPr lang="en-IN" smtClean="0"/>
              <a:t>13-10-2025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720D-C30F-49D3-B08B-D70BFBD09C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313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19C03-2786-4647-ADC2-80F7FC7A5074}" type="datetime1">
              <a:rPr lang="en-IN" smtClean="0"/>
              <a:t>13-10-2025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720D-C30F-49D3-B08B-D70BFBD09C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2319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CD97-30E5-4905-BE4C-395933FDC2B8}" type="datetime1">
              <a:rPr lang="en-IN" smtClean="0"/>
              <a:t>13-10-2025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720D-C30F-49D3-B08B-D70BFBD09C59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926317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5E2AD-C374-4D2B-AE58-7A0C37C7ADCA}" type="datetime1">
              <a:rPr lang="en-IN" smtClean="0"/>
              <a:t>13-10-2025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720D-C30F-49D3-B08B-D70BFBD09C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6706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EAC75-06F8-4586-A88B-F998A810C5D5}" type="datetime1">
              <a:rPr lang="en-IN" smtClean="0"/>
              <a:t>13-10-2025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720D-C30F-49D3-B08B-D70BFBD09C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6070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AD81C-7F2B-4640-8711-97A2D3F9D45E}" type="datetime1">
              <a:rPr lang="en-IN" smtClean="0"/>
              <a:t>13-10-2025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720D-C30F-49D3-B08B-D70BFBD09C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61623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1AB9-18FC-4F4C-9C02-1B5504204D28}" type="datetime1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720D-C30F-49D3-B08B-D70BFBD09C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29544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23EC6-2C92-481B-B630-D5F3B6C46159}" type="datetime1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720D-C30F-49D3-B08B-D70BFBD09C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849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A4D35CB-39BD-401F-9EA7-031CBACF8187}" type="datetime1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834720D-C30F-49D3-B08B-D70BFBD09C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104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25607-C0E1-2E96-E9FB-6EE0357E7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cap="none" dirty="0">
                <a:latin typeface="Arial" panose="020B0604020202020204" pitchFamily="34" charset="0"/>
                <a:cs typeface="Arial" panose="020B0604020202020204" pitchFamily="34" charset="0"/>
              </a:rPr>
              <a:t>Crowdfunding Project</a:t>
            </a:r>
            <a:endParaRPr lang="en-IN" b="1" u="sng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FEBD8-92E1-2A26-0B02-DFDAC56D1A7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42401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cap="none" dirty="0">
                <a:latin typeface="Arial" panose="020B0604020202020204" pitchFamily="34" charset="0"/>
                <a:cs typeface="Arial" panose="020B0604020202020204" pitchFamily="34" charset="0"/>
              </a:rPr>
              <a:t>Mentor Name:</a:t>
            </a:r>
          </a:p>
          <a:p>
            <a:pPr marL="0" indent="0" algn="just">
              <a:buNone/>
            </a:pPr>
            <a:r>
              <a:rPr lang="en-US" sz="2400" b="1" cap="none" dirty="0">
                <a:latin typeface="Arial" panose="020B0604020202020204" pitchFamily="34" charset="0"/>
                <a:cs typeface="Arial" panose="020B0604020202020204" pitchFamily="34" charset="0"/>
              </a:rPr>
              <a:t>Miss </a:t>
            </a:r>
            <a:r>
              <a:rPr lang="en-US" sz="2400" cap="none" dirty="0">
                <a:latin typeface="Arial" panose="020B0604020202020204" pitchFamily="34" charset="0"/>
                <a:cs typeface="Arial" panose="020B0604020202020204" pitchFamily="34" charset="0"/>
              </a:rPr>
              <a:t>Dipti Sinha</a:t>
            </a:r>
          </a:p>
          <a:p>
            <a:pPr marL="0" indent="0" algn="just">
              <a:buNone/>
            </a:pPr>
            <a:r>
              <a:rPr lang="en-US" sz="2400" b="1" cap="none" dirty="0">
                <a:latin typeface="Arial" panose="020B0604020202020204" pitchFamily="34" charset="0"/>
                <a:cs typeface="Arial" panose="020B0604020202020204" pitchFamily="34" charset="0"/>
              </a:rPr>
              <a:t>Presented by:</a:t>
            </a:r>
          </a:p>
          <a:p>
            <a:pPr marL="0" indent="0" algn="just">
              <a:buNone/>
            </a:pPr>
            <a:r>
              <a:rPr lang="en-US" sz="2400" cap="none" dirty="0">
                <a:latin typeface="Arial" panose="020B0604020202020204" pitchFamily="34" charset="0"/>
                <a:cs typeface="Arial" panose="020B0604020202020204" pitchFamily="34" charset="0"/>
              </a:rPr>
              <a:t>1. Priti Warungase</a:t>
            </a:r>
          </a:p>
          <a:p>
            <a:pPr marL="0" indent="0" algn="just">
              <a:buNone/>
            </a:pPr>
            <a:r>
              <a:rPr lang="en-US" sz="2400" cap="none" dirty="0">
                <a:latin typeface="Arial" panose="020B0604020202020204" pitchFamily="34" charset="0"/>
                <a:cs typeface="Arial" panose="020B0604020202020204" pitchFamily="34" charset="0"/>
              </a:rPr>
              <a:t>2. Umesh Garg</a:t>
            </a:r>
          </a:p>
          <a:p>
            <a:pPr marL="0" indent="0" algn="just">
              <a:buNone/>
            </a:pPr>
            <a:r>
              <a:rPr lang="en-US" sz="2400" cap="none" dirty="0">
                <a:latin typeface="Arial" panose="020B0604020202020204" pitchFamily="34" charset="0"/>
                <a:cs typeface="Arial" panose="020B0604020202020204" pitchFamily="34" charset="0"/>
              </a:rPr>
              <a:t>3. P. Gnana Prakash</a:t>
            </a:r>
          </a:p>
          <a:p>
            <a:pPr marL="0" indent="0" algn="just">
              <a:buNone/>
            </a:pPr>
            <a:r>
              <a:rPr lang="en-US" sz="2400" cap="none" dirty="0">
                <a:latin typeface="Arial" panose="020B0604020202020204" pitchFamily="34" charset="0"/>
                <a:cs typeface="Arial" panose="020B0604020202020204" pitchFamily="34" charset="0"/>
              </a:rPr>
              <a:t>4. Mohith Naga Sai </a:t>
            </a:r>
            <a:r>
              <a:rPr lang="en-US" sz="2400" cap="none" dirty="0" err="1">
                <a:latin typeface="Arial" panose="020B0604020202020204" pitchFamily="34" charset="0"/>
                <a:cs typeface="Arial" panose="020B0604020202020204" pitchFamily="34" charset="0"/>
              </a:rPr>
              <a:t>Kadavakollu</a:t>
            </a:r>
            <a:endParaRPr lang="en-US" sz="2400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cap="none" dirty="0"/>
          </a:p>
          <a:p>
            <a:pPr marL="0" indent="0">
              <a:buNone/>
            </a:pPr>
            <a:endParaRPr lang="en-IN" cap="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D03543-B232-C675-5CDF-B05A3827F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720D-C30F-49D3-B08B-D70BFBD09C5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168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3A3F7-AD29-47AF-8CE5-F26613D21D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379828"/>
            <a:ext cx="8689976" cy="745587"/>
          </a:xfrm>
        </p:spPr>
        <p:txBody>
          <a:bodyPr>
            <a:normAutofit fontScale="90000"/>
          </a:bodyPr>
          <a:lstStyle/>
          <a:p>
            <a:r>
              <a:rPr lang="en-US" dirty="0"/>
              <a:t>Index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5787E5-2E47-4FD3-9DA2-534914F703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1150" y="1223890"/>
            <a:ext cx="6358597" cy="4712676"/>
          </a:xfrm>
        </p:spPr>
        <p:txBody>
          <a:bodyPr>
            <a:noAutofit/>
          </a:bodyPr>
          <a:lstStyle/>
          <a:p>
            <a:r>
              <a:rPr lang="en-US" sz="3600" dirty="0"/>
              <a:t>  Describe Crowdfunding</a:t>
            </a:r>
          </a:p>
          <a:p>
            <a:r>
              <a:rPr lang="en-US" sz="3600" dirty="0"/>
              <a:t>1.Excel-Slide No-11</a:t>
            </a:r>
          </a:p>
          <a:p>
            <a:r>
              <a:rPr lang="en-US" sz="3600" dirty="0"/>
              <a:t>2.</a:t>
            </a:r>
            <a:r>
              <a:rPr lang="en-US" sz="3600" dirty="0">
                <a:solidFill>
                  <a:srgbClr val="7030A0"/>
                </a:solidFill>
              </a:rPr>
              <a:t>Sql- Slide No-12</a:t>
            </a:r>
          </a:p>
          <a:p>
            <a:r>
              <a:rPr lang="en-US" sz="3600" dirty="0"/>
              <a:t>3.</a:t>
            </a:r>
            <a:r>
              <a:rPr lang="en-US" sz="3600" b="1" cap="none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Tableau-Slide no-13</a:t>
            </a:r>
            <a:endParaRPr lang="en-US" sz="3600" dirty="0"/>
          </a:p>
          <a:p>
            <a:r>
              <a:rPr lang="en-US" sz="3600" dirty="0"/>
              <a:t>4.</a:t>
            </a:r>
            <a:r>
              <a:rPr lang="en-US" sz="3600" dirty="0">
                <a:solidFill>
                  <a:srgbClr val="FF0000"/>
                </a:solidFill>
              </a:rPr>
              <a:t>Powerbi-slide no-14</a:t>
            </a:r>
            <a:endParaRPr lang="en-IN" sz="3600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E2EB56-35DC-41E0-83A8-5B132D723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0660"/>
            <a:ext cx="5334432" cy="51833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2847DA-A7D8-4F3A-A27D-C086B7AC2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5946" y="100232"/>
            <a:ext cx="1971675" cy="990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9D61010-906D-436D-AF65-ACCE5BFD8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6546" y="124851"/>
            <a:ext cx="1971675" cy="990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09B25D-894A-430E-AF7E-D66459EB2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74" y="0"/>
            <a:ext cx="1971675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407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896FB-C2B6-D7C5-558E-11EEAA3B8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442453"/>
            <a:ext cx="10364451" cy="1371599"/>
          </a:xfrm>
        </p:spPr>
        <p:txBody>
          <a:bodyPr>
            <a:normAutofit/>
          </a:bodyPr>
          <a:lstStyle/>
          <a:p>
            <a:r>
              <a:rPr lang="en-US" sz="3200" b="1" u="sng" cap="none" dirty="0">
                <a:latin typeface="Arial" panose="020B0604020202020204" pitchFamily="34" charset="0"/>
                <a:cs typeface="Arial" panose="020B0604020202020204" pitchFamily="34" charset="0"/>
              </a:rPr>
              <a:t>Introduction of Crowdfunding</a:t>
            </a:r>
            <a:endParaRPr lang="en-IN" sz="3200" b="1" u="sng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3A7F5-95F1-0CC3-3216-EBCF6B1D28E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814052"/>
            <a:ext cx="10363826" cy="5043948"/>
          </a:xfrm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cap="none" dirty="0">
                <a:latin typeface="Arial" panose="020B0604020202020204" pitchFamily="34" charset="0"/>
                <a:cs typeface="Arial" panose="020B0604020202020204" pitchFamily="34" charset="0"/>
              </a:rPr>
              <a:t>rowdfunding means collecting small amount of money from many people to fund a project.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cap="none" dirty="0">
                <a:latin typeface="Arial" panose="020B0604020202020204" pitchFamily="34" charset="0"/>
                <a:cs typeface="Arial" panose="020B0604020202020204" pitchFamily="34" charset="0"/>
              </a:rPr>
              <a:t>rowdfunding is a form of crowdsourcing and alternative finance. In 2015,over US$34 billion was raised worldwide by crowdfunding.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400" cap="none" dirty="0">
                <a:latin typeface="Arial" panose="020B0604020202020204" pitchFamily="34" charset="0"/>
                <a:cs typeface="Arial" panose="020B0604020202020204" pitchFamily="34" charset="0"/>
              </a:rPr>
              <a:t>op crowdfunding platform:- Crowdfunding websites such as KICKSTARTER,INDIEGOGO, GOFUNDME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E16AA9-9E3F-AE1B-E58B-B8F23A218B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0515" y="4395019"/>
            <a:ext cx="5073445" cy="246298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90507-4176-6A7B-BF5B-3ADF25964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720D-C30F-49D3-B08B-D70BFBD09C5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942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84BE3-A9E8-5537-EC39-3030FA3CA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b="1" u="sng" cap="none" dirty="0">
                <a:latin typeface="Arial" panose="020B0604020202020204" pitchFamily="34" charset="0"/>
                <a:cs typeface="Arial" panose="020B0604020202020204" pitchFamily="34" charset="0"/>
              </a:rPr>
              <a:t>ools &amp; Techniques</a:t>
            </a:r>
            <a:endParaRPr lang="en-IN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5F367-1601-9A2B-5720-2EDA7F53886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400" b="1" cap="none" dirty="0">
                <a:latin typeface="Arial" panose="020B0604020202020204" pitchFamily="34" charset="0"/>
                <a:cs typeface="Arial" panose="020B0604020202020204" pitchFamily="34" charset="0"/>
              </a:rPr>
              <a:t>xcel</a:t>
            </a:r>
            <a:r>
              <a:rPr lang="en-US" sz="2400" cap="none" dirty="0">
                <a:latin typeface="Arial" panose="020B0604020202020204" pitchFamily="34" charset="0"/>
                <a:cs typeface="Arial" panose="020B0604020202020204" pitchFamily="34" charset="0"/>
              </a:rPr>
              <a:t>:- Data cleaning ,summary statistics , pivot table.</a:t>
            </a:r>
          </a:p>
          <a:p>
            <a:pPr marL="0" indent="0">
              <a:buNone/>
            </a:pPr>
            <a:r>
              <a:rPr lang="en-US" sz="2400" b="1" cap="none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400" cap="none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2400" b="1" cap="none" dirty="0">
                <a:latin typeface="Arial" panose="020B0604020202020204" pitchFamily="34" charset="0"/>
                <a:cs typeface="Arial" panose="020B0604020202020204" pitchFamily="34" charset="0"/>
              </a:rPr>
              <a:t>Sql</a:t>
            </a:r>
            <a:r>
              <a:rPr lang="en-US" sz="2400" cap="none" dirty="0">
                <a:latin typeface="Arial" panose="020B0604020202020204" pitchFamily="34" charset="0"/>
                <a:cs typeface="Arial" panose="020B0604020202020204" pitchFamily="34" charset="0"/>
              </a:rPr>
              <a:t>:-Data extraction , aggregation queries</a:t>
            </a:r>
          </a:p>
          <a:p>
            <a:pPr marL="0" indent="0">
              <a:buNone/>
            </a:pPr>
            <a:r>
              <a:rPr lang="en-US" sz="2400" b="1" cap="none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400" cap="none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400" b="1" cap="none" dirty="0">
                <a:latin typeface="Arial" panose="020B0604020202020204" pitchFamily="34" charset="0"/>
                <a:cs typeface="Arial" panose="020B0604020202020204" pitchFamily="34" charset="0"/>
              </a:rPr>
              <a:t>Power B</a:t>
            </a:r>
            <a:r>
              <a:rPr lang="en-US" sz="2400" cap="none" dirty="0">
                <a:latin typeface="Arial" panose="020B0604020202020204" pitchFamily="34" charset="0"/>
                <a:cs typeface="Arial" panose="020B0604020202020204" pitchFamily="34" charset="0"/>
              </a:rPr>
              <a:t>I:-  Interactive Dashboard creation and visualization.</a:t>
            </a:r>
          </a:p>
          <a:p>
            <a:pPr marL="0" indent="0">
              <a:buNone/>
            </a:pPr>
            <a:r>
              <a:rPr lang="en-US" sz="2400" b="1" cap="none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400" cap="none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400" b="1" cap="none" dirty="0">
                <a:latin typeface="Arial" panose="020B0604020202020204" pitchFamily="34" charset="0"/>
                <a:cs typeface="Arial" panose="020B0604020202020204" pitchFamily="34" charset="0"/>
              </a:rPr>
              <a:t>Tableau</a:t>
            </a:r>
            <a:r>
              <a:rPr lang="en-US" sz="2400" cap="none" dirty="0">
                <a:latin typeface="Arial" panose="020B0604020202020204" pitchFamily="34" charset="0"/>
                <a:cs typeface="Arial" panose="020B0604020202020204" pitchFamily="34" charset="0"/>
              </a:rPr>
              <a:t>:- Dashboard creation, and visualization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0BC360-E591-FEC2-D823-793C39943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720D-C30F-49D3-B08B-D70BFBD09C59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6589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BF4BD-5EB6-309C-CC7B-9546F8061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b="1" u="sng" cap="none" dirty="0">
                <a:latin typeface="Arial" panose="020B0604020202020204" pitchFamily="34" charset="0"/>
                <a:cs typeface="Arial" panose="020B0604020202020204" pitchFamily="34" charset="0"/>
              </a:rPr>
              <a:t>rowdfunding Models</a:t>
            </a:r>
            <a:endParaRPr lang="en-IN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402898A-11E0-7876-6EA2-D2AB87DE03F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8078" y="2041963"/>
            <a:ext cx="8067368" cy="40558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8FF954-20AA-B103-128C-F1C7C24B4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720D-C30F-49D3-B08B-D70BFBD09C5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615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5EA7A-1847-B069-CFC8-F566A10B6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="1" u="sng" cap="none" dirty="0">
                <a:latin typeface="Arial" panose="020B0604020202020204" pitchFamily="34" charset="0"/>
                <a:cs typeface="Arial" panose="020B0604020202020204" pitchFamily="34" charset="0"/>
              </a:rPr>
              <a:t>roject Overview KPI</a:t>
            </a:r>
            <a:endParaRPr lang="en-IN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4690E-DAFE-52BF-B947-77DB03A890D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1. T</a:t>
            </a:r>
            <a:r>
              <a:rPr lang="en-US" sz="2400" cap="none" dirty="0">
                <a:latin typeface="Arial" panose="020B0604020202020204" pitchFamily="34" charset="0"/>
                <a:cs typeface="Arial" panose="020B0604020202020204" pitchFamily="34" charset="0"/>
              </a:rPr>
              <a:t>otal number of project based on Outcome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2. T</a:t>
            </a:r>
            <a:r>
              <a:rPr lang="en-US" sz="2400" cap="none" dirty="0">
                <a:latin typeface="Arial" panose="020B0604020202020204" pitchFamily="34" charset="0"/>
                <a:cs typeface="Arial" panose="020B0604020202020204" pitchFamily="34" charset="0"/>
              </a:rPr>
              <a:t>otal number of project based on Location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3. T</a:t>
            </a:r>
            <a:r>
              <a:rPr lang="en-US" sz="2400" cap="none" dirty="0">
                <a:latin typeface="Arial" panose="020B0604020202020204" pitchFamily="34" charset="0"/>
                <a:cs typeface="Arial" panose="020B0604020202020204" pitchFamily="34" charset="0"/>
              </a:rPr>
              <a:t>otal number of project based on Category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4. T</a:t>
            </a:r>
            <a:r>
              <a:rPr lang="en-US" sz="2400" cap="none" dirty="0">
                <a:latin typeface="Arial" panose="020B0604020202020204" pitchFamily="34" charset="0"/>
                <a:cs typeface="Arial" panose="020B0604020202020204" pitchFamily="34" charset="0"/>
              </a:rPr>
              <a:t>otal number of project created by  Year, Quarter, Month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B5E98-8058-5ED7-0B2F-80D0D9D98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720D-C30F-49D3-B08B-D70BFBD09C5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909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6C9D6-37E3-60A5-7C61-52C6AF7C14F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2670" y="781664"/>
            <a:ext cx="10707329" cy="5466735"/>
          </a:xfrm>
        </p:spPr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b="1" cap="none" dirty="0">
                <a:latin typeface="Arial" panose="020B0604020202020204" pitchFamily="34" charset="0"/>
                <a:cs typeface="Arial" panose="020B0604020202020204" pitchFamily="34" charset="0"/>
              </a:rPr>
              <a:t>uccessful projects</a:t>
            </a:r>
          </a:p>
          <a:p>
            <a:r>
              <a:rPr lang="en-US" cap="none" dirty="0">
                <a:latin typeface="Arial" panose="020B0604020202020204" pitchFamily="34" charset="0"/>
                <a:cs typeface="Arial" panose="020B0604020202020204" pitchFamily="34" charset="0"/>
              </a:rPr>
              <a:t>Amount Raised</a:t>
            </a:r>
          </a:p>
          <a:p>
            <a:r>
              <a:rPr lang="en-US" cap="none" dirty="0">
                <a:latin typeface="Arial" panose="020B0604020202020204" pitchFamily="34" charset="0"/>
                <a:cs typeface="Arial" panose="020B0604020202020204" pitchFamily="34" charset="0"/>
              </a:rPr>
              <a:t>Number of Backers</a:t>
            </a:r>
          </a:p>
          <a:p>
            <a:r>
              <a:rPr lang="en-US" cap="none" dirty="0">
                <a:latin typeface="Arial" panose="020B0604020202020204" pitchFamily="34" charset="0"/>
                <a:cs typeface="Arial" panose="020B0604020202020204" pitchFamily="34" charset="0"/>
              </a:rPr>
              <a:t>Avg number of days for successful projects</a:t>
            </a:r>
          </a:p>
          <a:p>
            <a:r>
              <a:rPr lang="en-US" b="1" cap="none" dirty="0">
                <a:latin typeface="Arial" panose="020B0604020202020204" pitchFamily="34" charset="0"/>
                <a:cs typeface="Arial" panose="020B0604020202020204" pitchFamily="34" charset="0"/>
              </a:rPr>
              <a:t>Top successful project</a:t>
            </a:r>
          </a:p>
          <a:p>
            <a:pPr marL="0" indent="0">
              <a:buNone/>
            </a:pPr>
            <a:r>
              <a:rPr lang="en-US" cap="none" dirty="0">
                <a:latin typeface="Arial" panose="020B0604020202020204" pitchFamily="34" charset="0"/>
                <a:cs typeface="Arial" panose="020B0604020202020204" pitchFamily="34" charset="0"/>
              </a:rPr>
              <a:t>1.Based on number of backers</a:t>
            </a:r>
          </a:p>
          <a:p>
            <a:pPr marL="0" indent="0">
              <a:buNone/>
            </a:pPr>
            <a:r>
              <a:rPr lang="en-US" cap="none" dirty="0">
                <a:latin typeface="Arial" panose="020B0604020202020204" pitchFamily="34" charset="0"/>
                <a:cs typeface="Arial" panose="020B0604020202020204" pitchFamily="34" charset="0"/>
              </a:rPr>
              <a:t>2.Based on Amount Raised</a:t>
            </a:r>
          </a:p>
          <a:p>
            <a:r>
              <a:rPr lang="en-US" b="1" cap="none" dirty="0">
                <a:latin typeface="Arial" panose="020B0604020202020204" pitchFamily="34" charset="0"/>
                <a:cs typeface="Arial" panose="020B0604020202020204" pitchFamily="34" charset="0"/>
              </a:rPr>
              <a:t>Percentage of successful project overall</a:t>
            </a:r>
          </a:p>
          <a:p>
            <a:pPr marL="457200" indent="-457200">
              <a:buAutoNum type="arabicPeriod"/>
            </a:pPr>
            <a:r>
              <a:rPr lang="en-US" cap="none" dirty="0">
                <a:latin typeface="Arial" panose="020B0604020202020204" pitchFamily="34" charset="0"/>
                <a:cs typeface="Arial" panose="020B0604020202020204" pitchFamily="34" charset="0"/>
              </a:rPr>
              <a:t>Percentage of successful project by category</a:t>
            </a:r>
          </a:p>
          <a:p>
            <a:pPr marL="457200" indent="-457200">
              <a:buAutoNum type="arabicPeriod"/>
            </a:pPr>
            <a:r>
              <a:rPr lang="en-US" cap="none" dirty="0">
                <a:latin typeface="Arial" panose="020B0604020202020204" pitchFamily="34" charset="0"/>
                <a:cs typeface="Arial" panose="020B0604020202020204" pitchFamily="34" charset="0"/>
              </a:rPr>
              <a:t>Percentage of successful project by Year, Month etc.</a:t>
            </a:r>
          </a:p>
          <a:p>
            <a:pPr marL="457200" indent="-457200">
              <a:buAutoNum type="arabicPeriod"/>
            </a:pPr>
            <a:r>
              <a:rPr lang="en-US" cap="none" dirty="0">
                <a:latin typeface="Arial" panose="020B0604020202020204" pitchFamily="34" charset="0"/>
                <a:cs typeface="Arial" panose="020B0604020202020204" pitchFamily="34" charset="0"/>
              </a:rPr>
              <a:t>Percentage of successful project by Goal Range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41E46-67F2-FF77-ABCD-A99780F25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720D-C30F-49D3-B08B-D70BFBD09C59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524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0A775-A096-6562-DBDB-2C5246524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b="1" u="sng" cap="none" dirty="0">
                <a:latin typeface="Arial" panose="020B0604020202020204" pitchFamily="34" charset="0"/>
                <a:cs typeface="Arial" panose="020B0604020202020204" pitchFamily="34" charset="0"/>
              </a:rPr>
              <a:t>leaning Dataset using Power Query</a:t>
            </a:r>
            <a:endParaRPr lang="en-IN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92C73-135E-6809-B128-C976FE44F04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sz="2400" cap="none" dirty="0">
                <a:latin typeface="Arial" panose="020B0604020202020204" pitchFamily="34" charset="0"/>
                <a:cs typeface="Arial" panose="020B0604020202020204" pitchFamily="34" charset="0"/>
              </a:rPr>
              <a:t>hat is power query?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400" cap="none" dirty="0">
                <a:latin typeface="Arial" panose="020B0604020202020204" pitchFamily="34" charset="0"/>
                <a:cs typeface="Arial" panose="020B0604020202020204" pitchFamily="34" charset="0"/>
              </a:rPr>
              <a:t>ower query is used for gathering and cleaning data.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cap="none" dirty="0">
                <a:latin typeface="Arial" panose="020B0604020202020204" pitchFamily="34" charset="0"/>
                <a:cs typeface="Arial" panose="020B0604020202020204" pitchFamily="34" charset="0"/>
              </a:rPr>
              <a:t>t is tool which is used for cleaning your dataset.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cap="none" dirty="0">
                <a:latin typeface="Arial" panose="020B0604020202020204" pitchFamily="34" charset="0"/>
                <a:cs typeface="Arial" panose="020B0604020202020204" pitchFamily="34" charset="0"/>
              </a:rPr>
              <a:t>t remove the repetitive records, duplicates value, and Null value.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0EE9EE-710B-27C4-3D5E-95B2986FA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720D-C30F-49D3-B08B-D70BFBD09C59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872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97840-7785-F54B-92C3-091975C15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b="1" u="sng" cap="none" dirty="0">
                <a:latin typeface="Arial" panose="020B0604020202020204" pitchFamily="34" charset="0"/>
                <a:cs typeface="Arial" panose="020B0604020202020204" pitchFamily="34" charset="0"/>
              </a:rPr>
              <a:t>ata Modeling</a:t>
            </a:r>
            <a:endParaRPr lang="en-IN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1E3B4-8D4B-B08C-0355-E1285B6B42E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2400" cap="none" dirty="0">
                <a:latin typeface="Arial" panose="020B0604020202020204" pitchFamily="34" charset="0"/>
                <a:cs typeface="Arial" panose="020B0604020202020204" pitchFamily="34" charset="0"/>
              </a:rPr>
              <a:t>ata modeling is used to build the model using power pivot</a:t>
            </a:r>
          </a:p>
          <a:p>
            <a:r>
              <a:rPr lang="en-US" sz="2400" cap="none" dirty="0">
                <a:latin typeface="Arial" panose="020B0604020202020204" pitchFamily="34" charset="0"/>
                <a:cs typeface="Arial" panose="020B0604020202020204" pitchFamily="34" charset="0"/>
              </a:rPr>
              <a:t>Power pivot:-</a:t>
            </a:r>
          </a:p>
          <a:p>
            <a:r>
              <a:rPr lang="en-US" sz="2400" cap="none" dirty="0">
                <a:latin typeface="Arial" panose="020B0604020202020204" pitchFamily="34" charset="0"/>
                <a:cs typeface="Arial" panose="020B0604020202020204" pitchFamily="34" charset="0"/>
              </a:rPr>
              <a:t>Power pivot it is used to establish connection between two or more tables with the help of common column.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A529D6-B210-80C9-BC9F-F0C61F0EC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720D-C30F-49D3-B08B-D70BFBD09C59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9497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DBAC5-0FDB-8F20-5C35-B804AD5D7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21227"/>
            <a:ext cx="10364451" cy="1174954"/>
          </a:xfrm>
        </p:spPr>
        <p:txBody>
          <a:bodyPr/>
          <a:lstStyle/>
          <a:p>
            <a:r>
              <a:rPr lang="en-US" b="1" u="sng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b="1" u="sng" cap="none" dirty="0">
                <a:latin typeface="Arial" panose="020B0604020202020204" pitchFamily="34" charset="0"/>
                <a:cs typeface="Arial" panose="020B0604020202020204" pitchFamily="34" charset="0"/>
              </a:rPr>
              <a:t>pplication of Crowdfunding</a:t>
            </a:r>
            <a:endParaRPr lang="en-IN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56344-60FE-B8A5-CB09-A570BF97E7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396181"/>
            <a:ext cx="10363826" cy="5240593"/>
          </a:xfrm>
        </p:spPr>
        <p:txBody>
          <a:bodyPr>
            <a:no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cap="none" dirty="0">
                <a:latin typeface="Arial" panose="020B0604020202020204" pitchFamily="34" charset="0"/>
                <a:cs typeface="Arial" panose="020B0604020202020204" pitchFamily="34" charset="0"/>
              </a:rPr>
              <a:t>rowdfunding is used in many sector to raise money ,test, ideas, and support causes.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IN" sz="2400" cap="none" dirty="0">
                <a:latin typeface="Arial" panose="020B0604020202020204" pitchFamily="34" charset="0"/>
                <a:cs typeface="Arial" panose="020B0604020202020204" pitchFamily="34" charset="0"/>
              </a:rPr>
              <a:t>eal word application are follows:-</a:t>
            </a:r>
          </a:p>
          <a:p>
            <a:pPr marL="457200" indent="-457200">
              <a:buAutoNum type="arabicPeriod"/>
            </a:pPr>
            <a:r>
              <a:rPr lang="en-IN" sz="2400" cap="none" dirty="0">
                <a:latin typeface="Arial" panose="020B0604020202020204" pitchFamily="34" charset="0"/>
                <a:cs typeface="Arial" panose="020B0604020202020204" pitchFamily="34" charset="0"/>
              </a:rPr>
              <a:t>Business and start-up funding</a:t>
            </a:r>
          </a:p>
          <a:p>
            <a:pPr marL="457200" indent="-457200">
              <a:buAutoNum type="arabicPeriod"/>
            </a:pPr>
            <a:r>
              <a:rPr lang="en-IN" sz="2400" cap="none" dirty="0">
                <a:latin typeface="Arial" panose="020B0604020202020204" pitchFamily="34" charset="0"/>
                <a:cs typeface="Arial" panose="020B0604020202020204" pitchFamily="34" charset="0"/>
              </a:rPr>
              <a:t>Creative and Entertainment projects</a:t>
            </a:r>
          </a:p>
          <a:p>
            <a:pPr marL="457200" indent="-457200">
              <a:buAutoNum type="arabicPeriod"/>
            </a:pPr>
            <a:r>
              <a:rPr lang="en-IN" sz="2400" cap="none" dirty="0">
                <a:latin typeface="Arial" panose="020B0604020202020204" pitchFamily="34" charset="0"/>
                <a:cs typeface="Arial" panose="020B0604020202020204" pitchFamily="34" charset="0"/>
              </a:rPr>
              <a:t> Social and charity causes</a:t>
            </a:r>
          </a:p>
          <a:p>
            <a:pPr marL="457200" indent="-457200">
              <a:buAutoNum type="arabicPeriod"/>
            </a:pPr>
            <a:r>
              <a:rPr lang="en-IN" sz="2400" cap="none" dirty="0">
                <a:latin typeface="Arial" panose="020B0604020202020204" pitchFamily="34" charset="0"/>
                <a:cs typeface="Arial" panose="020B0604020202020204" pitchFamily="34" charset="0"/>
              </a:rPr>
              <a:t>Research &amp; Innovation</a:t>
            </a:r>
          </a:p>
          <a:p>
            <a:pPr marL="457200" indent="-457200">
              <a:buAutoNum type="arabicPeriod"/>
            </a:pPr>
            <a:r>
              <a:rPr lang="en-IN" sz="2400" cap="none" dirty="0">
                <a:latin typeface="Arial" panose="020B0604020202020204" pitchFamily="34" charset="0"/>
                <a:cs typeface="Arial" panose="020B0604020202020204" pitchFamily="34" charset="0"/>
              </a:rPr>
              <a:t> Product pre order &amp;Marketing</a:t>
            </a:r>
          </a:p>
          <a:p>
            <a:pPr marL="457200" indent="-457200">
              <a:buAutoNum type="arabicPeriod"/>
            </a:pPr>
            <a:r>
              <a:rPr lang="en-IN" sz="2400" cap="none" dirty="0">
                <a:latin typeface="Arial" panose="020B0604020202020204" pitchFamily="34" charset="0"/>
                <a:cs typeface="Arial" panose="020B0604020202020204" pitchFamily="34" charset="0"/>
              </a:rPr>
              <a:t>Environmental projects</a:t>
            </a:r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A6CB5AA-D39F-8888-AF42-7CE04A13A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720D-C30F-49D3-B08B-D70BFBD09C59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569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15061A-DF7A-4D97-B36D-387898B55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720D-C30F-49D3-B08B-D70BFBD09C59}" type="slidenum">
              <a:rPr lang="en-IN" smtClean="0"/>
              <a:t>11</a:t>
            </a:fld>
            <a:endParaRPr lang="en-IN"/>
          </a:p>
        </p:txBody>
      </p:sp>
      <p:pic>
        <p:nvPicPr>
          <p:cNvPr id="3" name="Content Placeholder 5">
            <a:extLst>
              <a:ext uri="{FF2B5EF4-FFF2-40B4-BE49-F238E27FC236}">
                <a16:creationId xmlns:a16="http://schemas.microsoft.com/office/drawing/2014/main" id="{81E72B94-BD76-4B83-A84E-6A41FDA564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928468"/>
            <a:ext cx="11591778" cy="57396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45772F-3475-4FF4-B1A8-595BAC0B9EB0}"/>
              </a:ext>
            </a:extLst>
          </p:cNvPr>
          <p:cNvSpPr txBox="1"/>
          <p:nvPr/>
        </p:nvSpPr>
        <p:spPr>
          <a:xfrm>
            <a:off x="1477107" y="189915"/>
            <a:ext cx="9425355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0070C0"/>
                </a:solidFill>
              </a:rPr>
              <a:t>EXCEL CROWDFUNDING DASHBOARD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433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15752-0247-257F-C96E-00C81750A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Crowdfunding </a:t>
            </a:r>
            <a:r>
              <a:rPr lang="en-US" dirty="0" err="1">
                <a:solidFill>
                  <a:srgbClr val="0070C0"/>
                </a:solidFill>
              </a:rPr>
              <a:t>Sql</a:t>
            </a:r>
            <a:r>
              <a:rPr lang="en-US" dirty="0">
                <a:solidFill>
                  <a:srgbClr val="0070C0"/>
                </a:solidFill>
              </a:rPr>
              <a:t> Queries</a:t>
            </a:r>
            <a:br>
              <a:rPr lang="en-US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98889D-6879-7086-701D-FFC68D0D1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720D-C30F-49D3-B08B-D70BFBD09C59}" type="slidenum">
              <a:rPr lang="en-IN" smtClean="0"/>
              <a:t>12</a:t>
            </a:fld>
            <a:endParaRPr lang="en-IN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ECD6D30-B34A-4DDF-AE55-759E31086FF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0" y="1528667"/>
            <a:ext cx="5387300" cy="53293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D08932-C83B-4288-8DF3-2B68A84B5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7249" y="1489397"/>
            <a:ext cx="6944751" cy="532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136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B224F-454E-75D3-A679-55B902392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"/>
            <a:ext cx="10364451" cy="1153551"/>
          </a:xfrm>
        </p:spPr>
        <p:txBody>
          <a:bodyPr/>
          <a:lstStyle/>
          <a:p>
            <a:r>
              <a:rPr lang="en-US" b="1" cap="none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Tableau Crowdfunding Dashboard</a:t>
            </a: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6AF94-AA28-DFE6-CFDD-EC023170C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720D-C30F-49D3-B08B-D70BFBD09C59}" type="slidenum">
              <a:rPr lang="en-IN" smtClean="0"/>
              <a:t>13</a:t>
            </a:fld>
            <a:endParaRPr lang="en-IN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65E95E6-F80D-87BC-C249-6D4B5F97470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36" y="1153552"/>
            <a:ext cx="11976364" cy="5613008"/>
          </a:xfrm>
        </p:spPr>
      </p:pic>
    </p:spTree>
    <p:extLst>
      <p:ext uri="{BB962C8B-B14F-4D97-AF65-F5344CB8AC3E}">
        <p14:creationId xmlns:p14="http://schemas.microsoft.com/office/powerpoint/2010/main" val="1032007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297D8-13AF-32E3-DDE0-791EC05E9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"/>
            <a:ext cx="10364451" cy="1153550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Power Bi Crowdfunding Dashboard</a:t>
            </a:r>
            <a:endParaRPr lang="en-IN" dirty="0">
              <a:solidFill>
                <a:srgbClr val="0070C0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EE9BCB6-D984-A1AF-CBC0-68C6AC5B3D0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09" y="984738"/>
            <a:ext cx="12065391" cy="587326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A591E-1C9C-FBE2-9E0F-4D6CF954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720D-C30F-49D3-B08B-D70BFBD09C59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8314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AF89B-3B67-9BEA-09FC-5323FC7EE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cap="none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IN" b="1" u="sng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6F128-1900-DAB7-0021-1E6B3E32C79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1.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cap="none" dirty="0">
                <a:latin typeface="Arial" panose="020B0604020202020204" pitchFamily="34" charset="0"/>
                <a:cs typeface="Arial" panose="020B0604020202020204" pitchFamily="34" charset="0"/>
              </a:rPr>
              <a:t>rowdfunding success depends on Goal  Amount, Category and Campaign duration.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2. D</a:t>
            </a:r>
            <a:r>
              <a:rPr lang="en-US" sz="2400" cap="none" dirty="0">
                <a:latin typeface="Arial" panose="020B0604020202020204" pitchFamily="34" charset="0"/>
                <a:cs typeface="Arial" panose="020B0604020202020204" pitchFamily="34" charset="0"/>
              </a:rPr>
              <a:t>ata visualization helped uncover success trends.</a:t>
            </a:r>
          </a:p>
          <a:p>
            <a:pPr marL="0" indent="0">
              <a:buNone/>
            </a:pPr>
            <a:r>
              <a:rPr lang="en-US" sz="2400" cap="none" dirty="0">
                <a:latin typeface="Arial" panose="020B0604020202020204" pitchFamily="34" charset="0"/>
                <a:cs typeface="Arial" panose="020B0604020202020204" pitchFamily="34" charset="0"/>
              </a:rPr>
              <a:t>3. Crowdfunding is a Low-risk, high reward method of acquiring capital for start-up.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A824D-2932-3E3B-18E3-8CA53E174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720D-C30F-49D3-B08B-D70BFBD09C59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074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0AC8FEB-37FA-56F1-3CBE-E918C612968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244" y="1578077"/>
            <a:ext cx="6371303" cy="4213123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0440F-91CB-4030-D044-E92F53338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720D-C30F-49D3-B08B-D70BFBD09C59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1465605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487</TotalTime>
  <Words>455</Words>
  <Application>Microsoft Office PowerPoint</Application>
  <PresentationFormat>Widescreen</PresentationFormat>
  <Paragraphs>82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Tw Cen MT</vt:lpstr>
      <vt:lpstr>Droplet</vt:lpstr>
      <vt:lpstr>Crowdfunding Project</vt:lpstr>
      <vt:lpstr>Index</vt:lpstr>
      <vt:lpstr>Introduction of Crowdfunding</vt:lpstr>
      <vt:lpstr>Tools &amp; Techniques</vt:lpstr>
      <vt:lpstr>Crowdfunding Models</vt:lpstr>
      <vt:lpstr>Project Overview KPI</vt:lpstr>
      <vt:lpstr>PowerPoint Presentation</vt:lpstr>
      <vt:lpstr>Cleaning Dataset using Power Query</vt:lpstr>
      <vt:lpstr>Data Modeling</vt:lpstr>
      <vt:lpstr>Application of Crowdfunding</vt:lpstr>
      <vt:lpstr>PowerPoint Presentation</vt:lpstr>
      <vt:lpstr>Crowdfunding Sql Queries </vt:lpstr>
      <vt:lpstr>Tableau Crowdfunding Dashboard</vt:lpstr>
      <vt:lpstr>Power Bi Crowdfunding Dashboard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Crowdfunding Project</dc:title>
  <dc:creator>Priti Warungase</dc:creator>
  <cp:lastModifiedBy>umesh Garg</cp:lastModifiedBy>
  <cp:revision>12</cp:revision>
  <dcterms:created xsi:type="dcterms:W3CDTF">2025-10-08T06:36:49Z</dcterms:created>
  <dcterms:modified xsi:type="dcterms:W3CDTF">2025-10-13T17:08:49Z</dcterms:modified>
</cp:coreProperties>
</file>